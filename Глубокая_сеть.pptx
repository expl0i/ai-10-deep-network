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очки z</c:v>
                </c:pt>
              </c:strCache>
            </c:strRef>
          </c:tx>
          <c:spPr>
            <a:solidFill>
              <a:srgbClr val="9A9AA3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кошка</c:v>
                  </c:pt>
                  <c:pt idx="1">
                    <c:v>собака</c:v>
                  </c:pt>
                  <c:pt idx="2">
                    <c:v>лиса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вероятность p</c:v>
                </c:pt>
              </c:strCache>
            </c:strRef>
          </c:tx>
          <c:spPr>
            <a:solidFill>
              <a:srgbClr val="B8AB84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кошка</c:v>
                  </c:pt>
                  <c:pt idx="1">
                    <c:v>собака</c:v>
                  </c:pt>
                  <c:pt idx="2">
                    <c:v>лиса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0.659</c:v>
                </c:pt>
                <c:pt idx="1">
                  <c:v>0.242</c:v>
                </c:pt>
                <c:pt idx="2">
                  <c:v>0.099</c:v>
                </c:pt>
              </c:numCache>
            </c:numRef>
          </c:val>
        </c:ser>
        <c:dLbls>
          <c:numFmt formatCode="0.0##" sourceLinked="0"/>
          <c:txPr>
            <a:bodyPr/>
            <a:lstStyle/>
            <a:p>
              <a:pPr>
                <a:defRPr b="0" i="0" strike="noStrike" sz="900" u="none">
                  <a:solidFill>
                    <a:srgbClr val="333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E6E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тему блока: за пять занятий мы разберем, из чего собраны современные сети – полносвязные слои, свертки, рекуррентные слои – и каждый механизм сначала напишем руками на тензорах, а затем сверим с готовым модулем PyTorch. Сегодня – самый нижний уровень: один слой и то, зачем между слоями нужна нелинейность. Спросите класс, кто уже писал сеть на PyTorch и что там означает строка `nn.Linear(784, 128)` (обычно отвечают «слой на 128 нейронов», но не могут сказать, что именно он считает). Пообещайте, что к концу занятия каждый сможет посчитать такой слой вручную и назвать число его параметров.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на доске квадрат с четырьмя точками и дайте минуту: пусть кто-нибудь выйдет и попробует провести одну прямую, отделяющую золотые (0, 1) и (1, 0) от серых (0, 0) и (1, 1). После двух-трех попыток спросите, почему не выходит (ожидаемый ответ: золотые точки лежат на одной диагонали, серые – на другой, диагонали пересекаются). Сообщите результат метода наименьших квадратов: лучшая линейная модель выдает 0.5 во всех точках, MSE = 0.25, то есть не знает ничего. Свяжите с 9 классом: логистическая регрессия тоже проводит одну прямую и на XOR даст точность 0.5. Вопрос оставьте открытым – ответ появится на слайде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Скажите, что нейронная сеть не вводит ничего экзотического: ее кирпичик – та самая логистическая регрессия, которую ученики уже обучали в 9 классе. Новым будет только способ собрать много таких кирпичиков вместе и записать их одной формулой через умножение матриц.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схему слева направо, затем четыре пункта справа: входы x₁, x₂, x₃ умножаются на веса, складываются вместе со смещением b в число z, затем к z применяется функция активации f. Спросите: «Что получится, если f – сигмоида?» (ответ: ровно логистическая регрессия σ(w·x + b), которую мы обучали на табличных данных). Подчеркните роли: вес показывает, насколько вход важен и в какую сторону тянет ответ, смещение сдвигает порог срабатывания. Предупредите ошибку: ученики иногда думают, что у каждого входа свое смещение – нет, у нейрона одно смещение. Упомяните, что биологическая аналогия (дендриты, аксон) исторически полезна, но дальше мы работаем только с формулами (MIT L8, PDF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Выпишите формулу H = f(X·W + b) и сразу проговорите формы на примере XOR: X – 4 × 2 (4 объекта по 2 признака), W – 2 × 2 (столбец j – веса нейрона j), b – вектор длины 2, H – 4 × 2. Покажите на доске, что элемент H[i, j] – это нейрон j, примененный к объекту i. Спросите: «Какой формы W у слоя 784 → 128?» (784 × 128). Отметьте, что b длины 2 прибавляется к матрице 4 × 2 построчно – это транслирование (broadcasting), в NumPy ученики его уже встречали. Скажите, что в книге Гудфеллоу та же запись выглядит как Wᵀx + c: там объекты – столбцы, у нас – строки; смысл один. Связанное задание – С2.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Покажите, как пример XOR записывается тензорами PyTorch, и попросите проговорить форму каждой строки кода. По списку форм справа закрепите правило: первая ось – объекты пакета (batch), вторая – признаки или нейроны. Спросите: «Сколько чисел в выходе сети на пакете из 64 картинок и 10 классах?» (64 × 10 = 640). Предупредите самую частую ошибку практики: несовпадение форм при умножении, сообщение `mat1 and mat2 shapes cannot be multiplied`. Совет ученикам: перед любым `@` проговаривать формы вслух, внутренние размеры должны совпасть. Сравните с 9 классом: матрица признаков `X` для sklearn устроена точно так же – строки объекты, столбцы признаки.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Верните класс к вопросу затравки: слой уже есть, умножение матриц есть, но XOR пока не решен. Сформулируйте интригу раздела: оказывается, сколько линейных слоев ни ставь друг за другом, сеть останется прямой – нужен изгиб.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графики (ReLU – золотая, сигмоида – белая, tanh – пунктир), затем нарисуйте их по памяти вместе с классом. ReLU = max(0, z) – стандарт для скрытых слоев: вычисляется мгновенно, и при z &gt; 0 производная равна 1, что пригодится на следующем занятии про градиенты (GF 6.3.1). Сигмоида сжимает число в (0, 1) и удобна как выход для двух классов. Tanh похожа на сигмоиду, но центрирована в нуле: tanh(z) = 2σ(2z) − 1. Спросите: «Почему не использовать в скрытых слоях сигмоиду везде?» (ответ на уровне идеи: на краях она почти плоская, градиент почти нулевой, обучение глубоких сетей замирает; подробно – в Б2.2). Связанное задание – С1.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Считаем сеть XOR без ReLU. Шаг 1: f(x) = (x·W + c)·w + b. Шаг 2: W·w = (1·1 + 1·(−2), 1·1 + 1·(−2)) = (−1, −1). Шаг 3: c·w + b = 0·1 + (−1)·(−2) + 0 = 2. Шаг 4: f(x) = 2 − x₁ − x₂, на четырех точках [2, 1, 1, 0]. Вывод: два слоя без активации – одна линейная функция с весами W·w, поэтому добавлять линейные слои бесполезно. Дополнительное задание классу: докажите, что никакая линейная функция не дает [0, 1, 1, 0] (ответ: из f(0,0) = 0, f(0,1) = 1, f(1,0) = 1 следует f = x₁ + x₂, и f(1,1) = 2 ≠ 0). Связанное задание – `forward_no_act` в С3.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 с полным разбором сквозного примера. Выпишите веса W, c, w, b (строка под заголовком) и заполняйте карточки одну за другой вместе с классом. Точка (0, 0): x·W + c = (0, −1), ReLU дает (0, 0), выход 0·1 + 0·(−2) = 0. Точка (0, 1): (1, 0) → (1, 0) → 1. Точка (1, 0): (1, 0) → (1, 0) → 1. Точка (1, 1): (2, 1) → (2, 1) → 2 − 2 = 0. Итог [0, 1, 1, 0] – XOR решен. Обратите внимание класса, что ReLU изменила ровно одно число (−1 в первой строке), и этого хватило. Дополнительное задание: посчитайте выход сети в точке (0.5, 0.5) (ответ: x·W + c = (1, 0), h = (1, 0), выход 1). Связанное задание – С3.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картинку: это точки XOR после скрытого слоя, в пространстве h (исходные точки нарисуйте на доске рядом). Спросите: «Что случилось с точками (0, 1) и (1, 0)?» (они перешли в одну точку h = (1, 0)). Теперь классы разделяет прямая h₁ − 2h₂ = 0.5: выход сети h₁ − 2h₂ равен 1 для золотой точки и 0 для черных. Главная мысль занятия: скрытый слой учит новое представление данных, в котором задача становится простой. Сравните с 9 классом: там мы сами придумывали признаки (например, произведение x₁·x₂ решило бы XOR для логистической регрессии), а сеть находит такие признаки сама (GF 6.1, рис. 6.1; MIT L8.3).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теорему об универсальной аппроксимации на уровне идеи: сеть с одним скрытым слоем и нелинейной активацией может сколь угодно точно приблизить любую непрерывную функцию на ограниченной области. Сразу предупредите ложный вывод «значит, глубокие сети не нужны»: теорема не говорит, сколько нейронов понадобится (GF 6.4.1). Разберите пример на слайде: два нейрона ReLU дают функцию t(x) = 2·ReLU(x) − 4·ReLU(x − 0.5) – «домик», который складывает отрезок [0, 1] пополам. Применив t три раза подряд (3 слоя по 2 нейрона), получаем 8 линейных кусков. Спросите: «Сколько нейронов нужно одному скрытому слою для 8 кусков?» (не меньше 7: каждый нейрон добавляет не больше одного излома). Для 2ᵏ кусков глубокой сети хватает 2k нейронов, мелкой нужно 2ᵏ − 1 – это идея рис. 6.5 из книги. Граница на «двух лунах» в задании С6 тоже собрана из отрезков.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Сеть выдает просто числа. Чтобы получить ответ задачи и понять, насколько сеть ошиблась, нужны выходной блок и функция потерь. Напомните, что с функциями потерь ученики встречались в 9 классе: MSE у линейной регрессии и логистическая функция потерь у логистической регрессии.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трем карточкам. Регрессия: одно число без активации, потеря MSE. Два класса: одно число, сигмоида, бинарная кросс-энтропия (BCE) – та же логистическая потеря из 9 класса. K классов: K чисел, softmax и кросс-энтропия. Спросите: «Какой выход и потерю взять для распознавания дорожного знака из 43 классов?» (43 числа, softmax, кросс-энтропия). Предупредите важную ловушку PyTorch: `nn.CrossEntropyLoss` и `nn.BCEWithLogitsLoss` принимают «сырые» числа (логиты) и сами применяют softmax или сигмоиду; если применить softmax в сети еще раз, обучение пойдет хуже без явной ошибки. Сеть XOR из примера – регрессия с MSE, как в книге (GF 6.1).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Сеть выдала очки трем классам: z = [2.0, 1.0, 0.1]. Шаг 1: экспоненты e² = 7.389, e¹ = 2.718, e^0.1 = 1.105 – все положительны. Шаг 2: сумма 11.213. Шаг 3: делим: p = [0.659, 0.242, 0.099], сумма 1. Потеря при верном классе «кошка»: −ln 0.659 = 0.417, при верной «лисе»: −ln 0.099 = 2.317 – уверенная ошибка стоит в 5.6 раза дороже. Отметьте, что прибавление константы ко всем очкам не меняет p, поэтому на практике перед экспонентой вычитают максимум, иначе e¹⁰⁰⁰ переполнится. Дополнительное задание: softmax от [0, 0, 0] (ответ: по 0.333) и от [1000, 1001, 1002] (ответ: [0.090, 0.245, 0.665]). Задание С1.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«Считаем вместе». Выведите формулу вместе с классом: у каждого из n_out нейронов n_in весов и одно смещение. Слой 784 → 128: 784 · 128 + 128 = 100 480. Слой 128 → 10: 128 · 10 + 10 = 1 290. Всего 101 770. Задайте вопрос со слайда: сеть XOR 2 → 2 → 1 (ответ: 6 + 3 = 9), логистическая регрессия на 784 пикселях (ответ: 785, то есть сеть больше примерно в 130 раз). Обратите внимание, что почти все параметры сидят в первом слое – это станет аргументом в пользу сверток на занятии Б1.3. Сравните с деревом решений из 9 класса, где «размер» модели определяется числом узлов, а не заранее. Задание С4.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карточки как сравнение с моделями 9 класса. Сильные стороны: сеть сама строит признаки (у логистической регрессии их придумывал человек); при достаточном числе нейронов может описать любую границу; весь расчет сводится к умножению матриц, которое быстро выполняется на видеокарте. Слабые: параметров много, поэтому нужно много данных и легко переобучиться (как дерево без ограничения глубины); полносвязный слой не знает, что соседние пиксели связаны, и сдвиг картинки на один пиксель для него – совсем другой вход; веса невозможно прочитать как правила дерева решений. Спросите: «Какую из слабых сторон исправят свертки?» (вторую – Б1.3).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Скажите, что практика устроена как в 9 классе с деревом решений: сначала все пишем сами на тензорах, без готовых слоев, а в конце сверяем свой код с `torch.nn`. После части 1С строка `nn.Linear(784, 128)` не должна быть черным ящиком.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«Как это хранится в коде». Покажите, что в нашем коде сеть – это просто список пар (W, b), и прямой проход – цикл по этому списку: линейный слой, затем ReLU, кроме последнего слоя. Затем покажите ту же архитектуру в `nn.Sequential`. Главная ловушка: `nn.Linear` хранит матрицу весов как (n_out, n_in) – строка на нейрон – и считает x·Wᵀ + b. Поэтому при копировании наших весов в `nn.Linear` нужно транспонировать W. Спросите: «Какой формы `weight` у `nn.Linear(784, 128)`?» (128 × 784). Задание С5, функции `mlp_forward` и `to_sequential`.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 практики. С1 – активации, softmax и кросс-энтропия; С2 – линейный слой; С3 – сеть XOR с ReLU и без (главное задание, проверка – [0, 1, 1, 0] и [2, 1, 1, 0]); С4 – подсчет параметров (101 770); С5 – произвольная сеть из списка слоев и сверка с `torch.nn` (главное задание, расхождение меньше 1e−5); С6 – предсказания и граница решений на «двух лунах». Проговорите правило части: внутри своих функций – только операции тензоров, готовые слои – только для сверки. Готовая ячейка обучения в С6 используется как черный ящик: как она работает, разберем на следующем занятии.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двух-трех учеников своими словами объяснить, почему сеть без активации не решает XOR, а с ReLU решает. Пройдитесь по шести пунктам: слой – умножение матриц и активация; без нелинейности слои схлопываются; ReLU делает XOR разделимым; каждый слой удваивает число кусков; выход и потеря выбираются по задаче; размер сети считается по формуле. Анонсируйте следующее занятие: веса XOR мы взяли из книги, но как сеть находит их сама? Ответ – обратное распространение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0972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10 КЛАСС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14630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Глубокая сеть: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слои и активации решают XOR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406908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7" name="Image 1" descr="img2/ic_FaGraduationCap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0" y="4187586"/>
            <a:ext cx="201900" cy="2019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4087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Инженерная школа «УникУм», КузГТУ им. Т. Ф. Горбачева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937760" y="822960"/>
            <a:ext cx="502920" cy="43891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5" name="Image 1" descr="img2/ic_FaQuoteLeft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70" y="941466"/>
            <a:ext cx="201900" cy="2019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937760" y="141732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«Проведите одну прямую так, чтобы золотые точки оказались по одну сторону, а серые – по другую»</a:t>
            </a:r>
            <a:endParaRPr lang="en-US" sz="1900" dirty="0"/>
          </a:p>
        </p:txBody>
      </p:sp>
      <p:sp>
        <p:nvSpPr>
          <p:cNvPr id="7" name="Text 2"/>
          <p:cNvSpPr txBox="1"/>
          <p:nvPr/>
        </p:nvSpPr>
        <p:spPr>
          <a:xfrm>
            <a:off x="4937760" y="31546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Золотые – (0, 1) и (1, 0), серые – (0, 0) и (1, 1). Это задача XOR. Почему прямая не находится и что нужно добавить к модели? Ответ – вся сегодняшняя тема.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Нейрон и слой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логистической регрессии к умножению матриц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Нейрон – это логистическая регрессия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188720" y="1531620"/>
            <a:ext cx="914400" cy="772668"/>
          </a:xfrm>
          <a:prstGeom prst="line">
            <a:avLst/>
          </a:prstGeom>
          <a:noFill/>
          <a:ln w="15240">
            <a:solidFill>
              <a:srgbClr val="9A9A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188720" y="2304288"/>
            <a:ext cx="914400" cy="4572"/>
          </a:xfrm>
          <a:prstGeom prst="line">
            <a:avLst/>
          </a:prstGeom>
          <a:noFill/>
          <a:ln w="15240">
            <a:solidFill>
              <a:srgbClr val="9A9AA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1188720" y="2304288"/>
            <a:ext cx="914400" cy="781812"/>
          </a:xfrm>
          <a:prstGeom prst="line">
            <a:avLst/>
          </a:prstGeom>
          <a:noFill/>
          <a:ln w="15240">
            <a:solidFill>
              <a:srgbClr val="9A9AA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10312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28803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x₃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481328" y="162763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481328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2578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103120" y="2075688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03120" y="20756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+ b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0" y="2304288"/>
            <a:ext cx="41148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3291840" y="20299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11880" y="2075688"/>
            <a:ext cx="640080" cy="457200"/>
          </a:xfrm>
          <a:prstGeom prst="roundRect">
            <a:avLst>
              <a:gd name="adj" fmla="val 12000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11880" y="20756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251960" y="2304288"/>
            <a:ext cx="365760" cy="0"/>
          </a:xfrm>
          <a:prstGeom prst="line">
            <a:avLst/>
          </a:prstGeom>
          <a:noFill/>
          <a:ln w="15240">
            <a:solidFill>
              <a:srgbClr val="6E6E78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4663440" y="2148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3611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f(w₁x₁ + w₂x₂ + w₃x₃ + b)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39593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f = σ это ровно логистическая регрессия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21208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5806440" y="1261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Входы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154533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объекта – как столбцы X в sklearn.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21208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20848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Веса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5806440" y="236829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Насколько важен вход и в какую сторону тянет ответ.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521208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Смещение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5806440" y="31912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на нейрон, сдвигает порог срабатывания.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212080" y="3703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9" name="Text 36"/>
          <p:cNvSpPr txBox="1"/>
          <p:nvPr/>
        </p:nvSpPr>
        <p:spPr>
          <a:xfrm>
            <a:off x="5806440" y="37307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Активация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5806440" y="40142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Нелинейная функция f от суммы z.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СТРОЕНИЕ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Слой – много нейронов сразу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f(X · W + b)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932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строка H – один объект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554480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1554480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1709928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1709928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1865376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" y="1865376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020824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020824"/>
            <a:ext cx="118872" cy="118872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Входы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28986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× признаки: 4 точки XOR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56032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0" y="1554480"/>
            <a:ext cx="118872" cy="11887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26080" y="1554480"/>
            <a:ext cx="118872" cy="11887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43200" y="1709928"/>
            <a:ext cx="118872" cy="11887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926080" y="1709928"/>
            <a:ext cx="118872" cy="11887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2743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× 2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274320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Веса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2743200" y="28986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 × нейроны: столбец – один нейрон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6344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46320" y="1554480"/>
            <a:ext cx="118872" cy="11887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029200" y="1554480"/>
            <a:ext cx="118872" cy="118872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6072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35" name="Text 32"/>
          <p:cNvSpPr txBox="1"/>
          <p:nvPr/>
        </p:nvSpPr>
        <p:spPr>
          <a:xfrm>
            <a:off x="48463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84632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Смещения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4846320" y="28986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одному на нейрон, к каждой строке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76656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949440" y="1554480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132320" y="1554480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49440" y="1709928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32320" y="1709928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949440" y="1865376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132320" y="1865376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949440" y="2020824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132320" y="2020824"/>
            <a:ext cx="118872" cy="118872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863840" y="151790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400" dirty="0"/>
          </a:p>
        </p:txBody>
      </p:sp>
      <p:sp>
        <p:nvSpPr>
          <p:cNvPr id="48" name="Text 45"/>
          <p:cNvSpPr txBox="1"/>
          <p:nvPr/>
        </p:nvSpPr>
        <p:spPr>
          <a:xfrm>
            <a:off x="69494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2</a:t>
            </a:r>
            <a:endParaRPr lang="en-US" sz="1700" dirty="0"/>
          </a:p>
        </p:txBody>
      </p:sp>
      <p:sp>
        <p:nvSpPr>
          <p:cNvPr id="49" name="Text 46"/>
          <p:cNvSpPr txBox="1"/>
          <p:nvPr/>
        </p:nvSpPr>
        <p:spPr>
          <a:xfrm>
            <a:off x="6949440" y="26517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 слоя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6949440" y="28986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× нейроны: новые признаки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457200" y="36576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1520" y="37673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H[i, j] – это нейрон j, примененный к объекту i. У слоя 784 → 128 матрица W имеет форму 784 × 128.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сети – тензоры с формой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ТЕНЗОРЫ ПРИМЕРА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torch.tensor([[0., 0.], [0., 1.],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[1., 0.], [1., 1.]])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torch.tensor([[1., 1.], [1., 1.]])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torch.tensor([0., -1.])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X.shape            # [4,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@ W + c).shape  # [4, 2]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1188720"/>
            <a:ext cx="3749040" cy="2103120"/>
          </a:xfrm>
          <a:prstGeom prst="roundRect">
            <a:avLst>
              <a:gd name="adj" fmla="val 2609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1353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164592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             4 ×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пакет MNIST     64 × 784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после 784 → 128 64 × 128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выход, 10 кл.   64 × 10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ось – объекты пакета (batch), вторая – признаки. </a:t>
            </a:r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каждым @ проговаривайте формы вслух: внутренние размеры должны совпасть.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Нелинейность и глубина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без изгиба сеть так и остается прямой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Активация изгибает прямую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pic>
        <p:nvPicPr>
          <p:cNvPr id="7" name="Image 0" descr="img2/activ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389120" cy="31181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3891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применяется к каждому числу отдельно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5120640" y="134416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120640" y="13441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576072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= max(0, z)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6184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в скрытых слоях: быстро, при z &gt; 0 производная равна 1.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120640" y="230428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120640" y="2304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Сигмоида σ(z) = 1 / (1 + e⁻ᶻ)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257860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для двух классов: число от 0 до 1.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120640" y="32644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0" y="32644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57607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tanh z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760720" y="353872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−1 до 1, центрирована в нуле: tanh z = 2σ(2z) − 1.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линейных слоя – все еще прямая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(x·W + c)·w + b = x·(W·w) + (c·w + b)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274320" cy="274320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207008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07008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</a:t>
            </a:r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нужно 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80360" y="1691640"/>
            <a:ext cx="274320" cy="274320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64408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(0, 1)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264408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</a:t>
            </a:r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нужно 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937760" y="1691640"/>
            <a:ext cx="274320" cy="274320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21808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(1, 0)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321808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</a:t>
            </a:r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нужно 1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95160" y="1691640"/>
            <a:ext cx="274320" cy="274320"/>
          </a:xfrm>
          <a:prstGeom prst="ellipse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79208" y="1645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(1, 1)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79208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0</a:t>
            </a:r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нужно 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" y="2286000"/>
            <a:ext cx="804672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2514600"/>
            <a:ext cx="2468880" cy="2011680"/>
          </a:xfrm>
          <a:prstGeom prst="roundRect">
            <a:avLst>
              <a:gd name="adj" fmla="val 272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2651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W·w = (−1, −1)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1·1 + 1·(−2) = −1 для каждой строки 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0" y="2514600"/>
            <a:ext cx="2103120" cy="2011680"/>
          </a:xfrm>
          <a:prstGeom prst="roundRect">
            <a:avLst>
              <a:gd name="adj" fmla="val 272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42900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342900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c·w + b = 2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3429000" y="3749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0·1 + (−1)·(−2) + 0 = 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0" y="2514600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71500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7150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2 − x₁ − x₂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7150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Лучшая прямая: 0.5 везде, MSE = 0.25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7150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[2, 1, 1, 0]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ReLU та же сеть решает XOR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[[1, 1], [1, 1]],   c = [0, −1],   w = [1, −2],   b = 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664208"/>
            <a:ext cx="457200" cy="402336"/>
          </a:xfrm>
          <a:prstGeom prst="hexagon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(0, 0)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x·W + c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2219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−1)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25877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F8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(0, 0)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2999232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56032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0" y="16642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329184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(0, 1)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274320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x·W + c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3474720" y="22219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3474720" y="25877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0" y="2999232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74320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3474720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466344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46320" y="16642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4632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39496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(1, 0)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484632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x·W + c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5577840" y="22219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84632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577840" y="25877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(1, 0)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846320" y="2999232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4632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577840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6766560" y="150876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949440" y="1664208"/>
            <a:ext cx="457200" cy="402336"/>
          </a:xfrm>
          <a:prstGeom prst="hexagon">
            <a:avLst/>
          </a:prstGeom>
          <a:solidFill>
            <a:srgbClr val="9A9AA3"/>
          </a:solidFill>
          <a:ln w="12700">
            <a:solidFill>
              <a:srgbClr val="9A9AA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94944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7498080" y="17190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(1, 1)</a:t>
            </a:r>
            <a:endParaRPr lang="en-US" sz="1250" dirty="0"/>
          </a:p>
        </p:txBody>
      </p:sp>
      <p:sp>
        <p:nvSpPr>
          <p:cNvPr id="45" name="Text 42"/>
          <p:cNvSpPr txBox="1"/>
          <p:nvPr/>
        </p:nvSpPr>
        <p:spPr>
          <a:xfrm>
            <a:off x="694944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x·W + c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7680960" y="22219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(2, 1)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94944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7680960" y="25877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(2, 1)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949440" y="2999232"/>
            <a:ext cx="1554480" cy="0"/>
          </a:xfrm>
          <a:prstGeom prst="line">
            <a:avLst/>
          </a:prstGeom>
          <a:noFill/>
          <a:ln w="12700">
            <a:solidFill>
              <a:srgbClr val="E2E2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949440" y="30632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7680960" y="30175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85800" y="386791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54" name="Image 0" descr="img2/ic_FaLightbulb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3976543"/>
            <a:ext cx="185075" cy="185075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1325880" y="3813048"/>
            <a:ext cx="7086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ŷ = [0, 1, 1, 0].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изменила одно число – −1 в первой карточке стал 0. Этого излома хватило, чтобы решить XOR.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arch_hid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2697480" cy="377647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11480" y="41605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мотивам рис. 6.1 из книги Гудфеллоу и др.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3429000" y="502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ПРЕДСТАВЛЕНИЕ</a:t>
            </a:r>
            <a:endParaRPr lang="en-US" sz="900" dirty="0"/>
          </a:p>
        </p:txBody>
      </p:sp>
      <p:sp>
        <p:nvSpPr>
          <p:cNvPr id="6" name="Text 2"/>
          <p:cNvSpPr txBox="1"/>
          <p:nvPr/>
        </p:nvSpPr>
        <p:spPr>
          <a:xfrm>
            <a:off x="3429000" y="7315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Скрытый слой делает XOR разделимым прямой</a:t>
            </a:r>
            <a:endParaRPr lang="en-US" sz="2300" dirty="0"/>
          </a:p>
        </p:txBody>
      </p:sp>
      <p:sp>
        <p:nvSpPr>
          <p:cNvPr id="7" name="Shape 3"/>
          <p:cNvSpPr/>
          <p:nvPr/>
        </p:nvSpPr>
        <p:spPr>
          <a:xfrm>
            <a:off x="3429000" y="189280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429000" y="1892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0690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(0, 1) и (1, 0) склеились в точку h = (1, 0).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069080" y="21671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обнулила вторую координату у обеих точек.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29000" y="267004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29000" y="26700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Классы разделяет прямая h₁ − 2h₂ = 0.5.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069080" y="2944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сети h₁ − 2h₂ дает 1 для золотой точки и 0 для серых.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29000" y="3447288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29000" y="34472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069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Сеть сама учит признаки.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069080" y="3721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9 классе их придумывал человек: например, x₁·x₂ для XOR.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экономит нейроны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0" y="1097280"/>
            <a:ext cx="2834640" cy="3017520"/>
          </a:xfrm>
          <a:prstGeom prst="roundRect">
            <a:avLst>
              <a:gd name="adj" fmla="val 1935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pic>
        <p:nvPicPr>
          <p:cNvPr id="8" name="Image 0" descr="img2/ten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2560320" cy="13898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" y="2304288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66928" y="23042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куска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2724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063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скрытый слой, 2 нейрона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«перегиб» отрезка [0, 1]</a:t>
            </a:r>
            <a:endParaRPr lang="en-US" sz="950" dirty="0"/>
          </a:p>
        </p:txBody>
      </p:sp>
      <p:pic>
        <p:nvPicPr>
          <p:cNvPr id="13" name="Image 1" descr="img2/ten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188720"/>
            <a:ext cx="2560320" cy="13898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355848" y="2304288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355848" y="23042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куска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3246120" y="2724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2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246120" y="3063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слоя по 2 нейрона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 слой повторяет узор дважды</a:t>
            </a:r>
            <a:endParaRPr lang="en-US" sz="950" dirty="0"/>
          </a:p>
        </p:txBody>
      </p:sp>
      <p:pic>
        <p:nvPicPr>
          <p:cNvPr id="18" name="Image 2" descr="img2/ten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2560320" cy="138988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36208" y="2304288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236208" y="23042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кусков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6126480" y="2724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126480" y="3063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слоя по 2 нейрона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Одному слою нужно 7 нейронов, для 2ᵏ кусков – 2ᵏ − 1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из двух ReLU складывает отрезок пополам: t(x) = 2·ReLU(x) − 4·ReLU(x − 0.5). Каждый новый слой удваивает число кусков, а нейронов добавляет всего два (GF 6.4.1, рис. 6.5).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 и потери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превратить числа сети в ответ и оценку ошибки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БЛОК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Выход выбирают по задаче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371600" y="1234440"/>
            <a:ext cx="914400" cy="80467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8" name="Image 0" descr="img2/ic_FaChartLin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725" y="1451701"/>
            <a:ext cx="370149" cy="37014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1115568"/>
            <a:ext cx="310896" cy="27432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2103120" y="11155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7"/>
          <p:cNvSpPr txBox="1"/>
          <p:nvPr/>
        </p:nvSpPr>
        <p:spPr>
          <a:xfrm>
            <a:off x="283464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число без активации, потеря MSE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квартиры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14800" y="1234440"/>
            <a:ext cx="914400" cy="80467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6" name="Image 1" descr="img2/ic_FaToggleO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925" y="1451701"/>
            <a:ext cx="370149" cy="370149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46320" y="1115568"/>
            <a:ext cx="310896" cy="27432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846320" y="11155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5577840" y="14630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33832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класса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38328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число → сигмоида, бинарная кросс-энтропия (BCE)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3832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спам / не спам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0" y="1234440"/>
            <a:ext cx="914400" cy="80467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24" name="Image 2" descr="img2/ic_FaThLarge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125" y="1451701"/>
            <a:ext cx="370149" cy="370149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589520" y="1115568"/>
            <a:ext cx="310896" cy="27432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589520" y="11155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612648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классов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612648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чисел → softmax, кросс-энтропия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61264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цифра от 0 до 9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22960" y="3611880"/>
            <a:ext cx="7498080" cy="731520"/>
          </a:xfrm>
          <a:prstGeom prst="roundRect">
            <a:avLst>
              <a:gd name="adj" fmla="val 75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51560" y="3776472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32" name="Image 3" descr="img2/ic_FaLightbulb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3" y="3885103"/>
            <a:ext cx="185075" cy="18507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691640" y="3721608"/>
            <a:ext cx="6355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 PyTorch: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nn.BCEWithLogitsLoss и nn.CrossEntropyLoss сами применяют сигмоиду и softmax – им подают «сырые» выходы сети (логиты).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 превращает очки в вероятности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97280"/>
          <a:ext cx="48463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440680" y="120700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40680" y="12070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6080760" y="1188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Экспоненты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080760" y="14813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eᶻ = [7.389, 2.718, 1.105] – все положительны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40680" y="2029968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440680" y="202996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608076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Сумма и деление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080760" y="23042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11.213 → p = [0.659, 0.242, 0.099]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32004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9808" y="33192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 «КОШКА»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49808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−ln 0.659 = 0.417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49808" y="40416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 и верно – потеря мала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246120" y="32004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447288" y="33192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ВЕРНА «ЛИСА»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3447288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= −ln 0.099 = 2.317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3447288" y="40416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уверенная ошибка – в 5.6 раза дороже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0" y="320040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144768" y="331927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УСТОЙЧИВОСТЬ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6144768" y="3639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softmax(z − max z)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6144768" y="40416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[1000, 1001, 1002] → [0.090, 0.245, 0.665]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параметров у сети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4754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n_in · n_out + n_out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9326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и смещения одного слоя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580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 → 128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100 480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слой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· 128 + 128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132588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47472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→ 10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1 290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Второй слой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· 10 + 10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1325880"/>
            <a:ext cx="2606040" cy="1783080"/>
          </a:xfrm>
          <a:prstGeom prst="roundRect">
            <a:avLst>
              <a:gd name="adj" fmla="val 3077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63640" y="14813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6E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784 → 128 → 10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101 770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3957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Вся сеть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все – в первом слое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3447288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классу: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параметров у нашей сети XOR 2 → 2 → 1? А у логистической регрессии на 784 пикселях?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ОЦЕНКА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и слабые стороны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3337560"/>
            <a:ext cx="9144000" cy="18059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137160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pic>
        <p:nvPicPr>
          <p:cNvPr id="12" name="Image 0" descr="img2/ic_Fa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790" y="1490106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Сильные стороны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14300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 строит признаки – не надо придумывать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форма границы при достаточном размере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расчет – умножение матриц, быстро на GPU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код для любых данных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118872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371600"/>
            <a:ext cx="502920" cy="43891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pic>
        <p:nvPicPr>
          <p:cNvPr id="17" name="Image 1" descr="img2/ic_FaTime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550" y="1490106"/>
            <a:ext cx="201900" cy="201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3212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Слабые стороны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196596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параметров: нужны данные, легко переобучиться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видит структуру картинки: сдвиг на пиксель – новый вход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не читаются, как правила дерева решений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не объясняет, почему ответ такой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дальше: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полносвязный слой не знает, что соседние пиксели связаны. Это исправляют свертки – занятие Б1.3.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img2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2140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сеть на Python</a:t>
            </a:r>
            <a:endParaRPr lang="en-US" sz="25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564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 №1, часть 1С: только операции тензоров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ДАННЫХ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хранить сеть в коде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5331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СЕТЬ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6459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= [(W, c),         # 2 →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(w.reshape(2, 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b.reshape(1))]  # 2 →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один слой: x @ W +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W: (n_in, n_out)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17720" y="1188720"/>
            <a:ext cx="4069080" cy="2148840"/>
          </a:xfrm>
          <a:prstGeom prst="roundRect">
            <a:avLst>
              <a:gd name="adj" fmla="val 2553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3533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TORCH.NN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64592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= nn.Sequential(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nn.Linear(2, 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nn.ReLU(),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nn.Linear(2, 1))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nn.Linear(2, 16).weight.shape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[16, 2] = (out, in)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– список пар (W, b), по одной на слой. </a:t>
            </a:r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nn.Linear хранит weight как (n_out, n_in): при копировании наших весов берем W.T.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212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заданий – одна сеть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relu · sigmoid · softmax · cross_entropy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Активации и потеря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73552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56432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050792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050792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@ W + b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9904" y="118872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72784" y="15544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72784" y="1554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С3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6867144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forward_xor · forward_no_act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867144" y="19385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XOR с ReLU и без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С4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count_params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34440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 · n_out + n_out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73552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456432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56432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С5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050792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mlp_forward · to_sequential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050792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сеть и сверка с nn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089904" y="2514600"/>
            <a:ext cx="265176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2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272784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72784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С6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867144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 · accuracy · from_sequential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867144" y="3264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на «двух лунах»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каждого задания – строки «ожидается …». Внутри функций – только операции тензоров, torch.nn – только для сверки.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ЗАНЯТИЯ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66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 – H = f(X·W + b): много нейронов одним умножением матриц.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306324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63240" y="1673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активации слои схлопываются в одну линейную функцию.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дает скрытому слою изгиб – и XOR становится разделимым.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06324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063240" y="2816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экономит нейроны: каждый слой удваивает число кусков.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по задаче: sigmoid + BCE, softmax + кросс-энтропия.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0632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63240" y="39593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слоя n_in · n_out + n_out: у 784 → 128 → 10 их 101 770.</a:t>
            </a:r>
            <a:endParaRPr lang="en-US" sz="1050" dirty="0"/>
          </a:p>
        </p:txBody>
      </p:sp>
      <p:pic>
        <p:nvPicPr>
          <p:cNvPr id="17" name="Image 0" descr="img2/hex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502920"/>
            <a:ext cx="2926080" cy="323697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183880" y="3749040"/>
            <a:ext cx="502920" cy="43891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класс · Тема 1 · Блок 1 · Глубокая сеть</a:t>
            </a:r>
            <a:endParaRPr lang="en-US" sz="7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2026-09-24T02:06:44Z</dcterms:created>
  <dcterms:modified xsi:type="dcterms:W3CDTF">2026-09-24T02:06:44Z</dcterms:modified>
</cp:coreProperties>
</file>